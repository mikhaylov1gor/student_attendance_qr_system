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62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Игорек Жмышенко" initials="ИЖ" lastIdx="1" clrIdx="0">
    <p:extLst>
      <p:ext uri="{19B8F6BF-5375-455C-9EA6-DF929625EA0E}">
        <p15:presenceInfo xmlns:p15="http://schemas.microsoft.com/office/powerpoint/2012/main" userId="123bc00319b9f38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1764" autoAdjust="0"/>
  </p:normalViewPr>
  <p:slideViewPr>
    <p:cSldViewPr snapToGrid="0">
      <p:cViewPr varScale="1">
        <p:scale>
          <a:sx n="124" d="100"/>
          <a:sy n="124" d="100"/>
        </p:scale>
        <p:origin x="317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19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9T21:57:36.748" idx="1">
    <p:pos x="6549" y="844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186b4be10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Короткое представление, название работы, руководитель.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8186b4be1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ea5713ba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cea5713ba2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пока вузы делают журналы вручную или в Excel, процесс подвержен фальсификации — студенты отмечаются друг за друга. Готовые коммерческие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SaaS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-решения либо дороги, либо закрыты для настройки. Отсюда задача — разработать собственное решение.</a:t>
            </a:r>
            <a:endParaRPr lang="ru-RU" sz="2200" dirty="0"/>
          </a:p>
        </p:txBody>
      </p:sp>
      <p:sp>
        <p:nvSpPr>
          <p:cNvPr id="105" name="Google Shape;105;g3cea5713ba2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7406c68e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327406c68e5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Georgia"/>
                <a:ea typeface="Georgia"/>
                <a:cs typeface="Georgia"/>
                <a:sym typeface="Georgia"/>
              </a:rPr>
              <a:t>Цель работы — разработать защищенную от жульничества систему автоматизированного учета посещаемости студентов с использованием QR-кодов.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Georgia"/>
                <a:ea typeface="Georgia"/>
                <a:cs typeface="Georgia"/>
                <a:sym typeface="Georgia"/>
              </a:rPr>
              <a:t>Для достижения этой цели были поставлены следующие задачи: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AutoNum type="arabicPeriod"/>
            </a:pPr>
            <a:r>
              <a:rPr lang="ru-RU" dirty="0">
                <a:latin typeface="Georgia"/>
                <a:ea typeface="Georgia"/>
                <a:cs typeface="Georgia"/>
                <a:sym typeface="Georgia"/>
              </a:rPr>
              <a:t>Проанализировать существующие решения рынка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AutoNum type="arabicPeriod"/>
            </a:pPr>
            <a:r>
              <a:rPr lang="ru-RU" dirty="0">
                <a:latin typeface="Georgia"/>
                <a:ea typeface="Georgia"/>
                <a:cs typeface="Georgia"/>
                <a:sym typeface="Georgia"/>
              </a:rPr>
              <a:t>Разработать функциональные требования к системе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AutoNum type="arabicPeriod"/>
            </a:pPr>
            <a:r>
              <a:rPr lang="ru-RU" dirty="0">
                <a:latin typeface="Georgia"/>
                <a:ea typeface="Georgia"/>
                <a:cs typeface="Georgia"/>
                <a:sym typeface="Georgia"/>
              </a:rPr>
              <a:t>Спроектировать архитектуру и базу данных приложения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AutoNum type="arabicPeriod"/>
            </a:pPr>
            <a:r>
              <a:rPr lang="ru-RU" dirty="0">
                <a:latin typeface="Georgia"/>
                <a:ea typeface="Georgia"/>
                <a:cs typeface="Georgia"/>
                <a:sym typeface="Georgia"/>
              </a:rPr>
              <a:t>Реализовать гибкие в настройке механизмы защиты от жульничества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22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Ключевое слово в цели — «защищённой». Система должна не просто собирать отметки, но активно противодействовать фальсификации через несколько независимых механизмов, настраиваемых преподавателем и администратором.</a:t>
            </a:r>
            <a:endParaRPr sz="2200" dirty="0"/>
          </a:p>
        </p:txBody>
      </p:sp>
      <p:sp>
        <p:nvSpPr>
          <p:cNvPr id="116" name="Google Shape;116;g327406c68e5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762c597a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2762c597ae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Требования расписаны по трём ролям. Важный момент — преподаватель не только генерирует QR, но и видит результат проверок в реальном времени, что позволяет оперативно реагировать на аномалии.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</p:txBody>
      </p:sp>
      <p:sp>
        <p:nvSpPr>
          <p:cNvPr id="127" name="Google Shape;127;g32762c597ae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latin typeface="Georgia"/>
                <a:ea typeface="Georgia"/>
                <a:cs typeface="Georgia"/>
                <a:sym typeface="Georgia"/>
              </a:rPr>
              <a:t>Особое внимание уделено нефункциональным требованиям.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latin typeface="Georgia"/>
                <a:ea typeface="Georgia"/>
                <a:cs typeface="Georgia"/>
                <a:sym typeface="Georgia"/>
              </a:rPr>
              <a:t>Надежность QR-кодов. Данные, закодированные в QR-коде, не содержат открытую информацию о пользователе или занятии — передаётся только токен сессии, защищённый криптографическими методами. Система обеспечивает защиту от подделки QR-кодов за счёт проверки подлинности токена на сервере.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latin typeface="Georgia"/>
                <a:ea typeface="Georgia"/>
                <a:cs typeface="Georgia"/>
                <a:sym typeface="Georgia"/>
              </a:rPr>
              <a:t>Аудит безопасности. Все критичные операции — создание сессии, отметка посещаемости, изменение настроек безопасности — записываются в журнал аудита с указанием пользователя, времени и параметров операции.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latin typeface="Georgia"/>
                <a:ea typeface="Georgia"/>
                <a:cs typeface="Georgia"/>
                <a:sym typeface="Georgia"/>
              </a:rPr>
              <a:t>Надёжность хранения. Данные, содержащие персональную информацию, хранятся в зашифрованном или хэшированном виде в соответствии с требованиями защиты персональных данных.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762c597a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2762c597ae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Georgia"/>
                <a:ea typeface="Georgia"/>
                <a:cs typeface="Georgia"/>
                <a:sym typeface="Georgia"/>
              </a:rPr>
              <a:t>Для реализации системы выбран следующий технологический стек.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C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тек выбран с расчётом на минимальную инфраструктуру. Монолитный Go-бэкенд, никаких очередей и брокеров — все выделенные компоненты обоснованы задачей.</a:t>
            </a:r>
            <a:endParaRPr sz="2200" dirty="0"/>
          </a:p>
        </p:txBody>
      </p:sp>
      <p:sp>
        <p:nvSpPr>
          <p:cNvPr id="149" name="Google Shape;149;g32762c597ae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перед погружением в архитектуру обозначу три типа пользователей и то, что границы системы замкнуты — никаких внешних интеграций в этой версии. </a:t>
            </a:r>
            <a:b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</a:b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Это упрощает модель и даёт возможность сфокусироваться на главной ценности работы — механизмах защиты отметки.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3548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на уровне компонентов — пять независимо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деплоящихся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единиц. Монолит бэкенда — сознательный выбор: 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микросервисы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для курсовой были бы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оверхедом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, не демонстрирующим ценность темы. Две SPA вместо одной: у преподавателя и администратора принципиально разные сценарии работы. 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WebSocket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— только у преподавателя, для ротации QR и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live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-мониторинга отметок; остальные клиенты работают синхронно по REST.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7301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это модель доменного уровня — то, с чем работает бизнес-логика приложения, без привязки к реляционной схеме. Отмечу три особенности. Первое — </a:t>
            </a:r>
            <a:r>
              <a:rPr lang="ru-RU" dirty="0" err="1"/>
              <a:t>SecurityPolicy.mechanisms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моделируется как отдельный композитный класс: внутри него лежит конфигурация всех подключаемых механизмов защиты; это прямое следствие принципа «открыт для расширения, закрыт для модификации». Второе — связь </a:t>
            </a:r>
            <a:r>
              <a:rPr lang="ru-RU" dirty="0" err="1"/>
              <a:t>Session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→ </a:t>
            </a:r>
            <a:r>
              <a:rPr lang="ru-RU" dirty="0"/>
              <a:t>Group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моделируется 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M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:N, без промежуточной сущности «поток»: поток используется только как UI-инструмент группировки, подробнее — позже. Третье — </a:t>
            </a:r>
            <a:r>
              <a:rPr lang="ru-RU" dirty="0" err="1"/>
              <a:t>AuditLog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содержит поле </a:t>
            </a:r>
            <a:r>
              <a:rPr lang="ru-RU" dirty="0" err="1"/>
              <a:t>prevHash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для хэш-цепочки, обеспечивающей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tamper-evidence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3325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эти четыре точки выбраны не для «объёма», а потому что каждая органично вырастает из темы. Дальше — по одной.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2900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это центральная задача всей работы — «гибкие в настройке механизмы защиты» заявлены в самом названии курсовой.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8586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на диаграмме видна реализация паттерна Strategy в чистом виде: один интерфейс — три реализации, агрегатор в центре. Добавление нового механизма (например, Bluetooth-маяка) = новый класс, реализующий интерфейс, плюс запись в JSON-конфиге политики. Ни миграций БД, ни изменений в ядре Policy Engine. </a:t>
            </a:r>
            <a:br>
              <a:rPr lang="ru-RU" dirty="0"/>
            </a:b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1228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эта диаграмма активности показывает сквозной сценарий отметки студента. Важные моменты. Блокировка в смысле 4xx-ответа клиенту происходит только в двух случаях — битая HMAC-подпись QR и повторная отметка тем же студентом. Во всех остальных случаях отметка сохраняется, а результаты проверок записываются отдельно; решение принимает преподаватель. Это архитектурное решение закрывает типичные ложные срабатывания: плохой GPS в подвале, сменившийся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Wi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-Fi-роутер, отсутствие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Wi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-Fi-API на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iOS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. Также это открывает задел на будущий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iOS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-клиент без переделки серверной логики.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9706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изначально рассматривалось хранение каждого выданного токена в отдельной таблице. Плюс — возможность отозвать конкретный токен. Минус — постоянный рост таблицы, нагрузка на БД при каждой валидации (а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валидаций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много — каждая отметка студента), гонки.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2020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выбран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stateless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-подход. Преимущество — нет записи и чтения БД при валидации токена, нет гонок, нет мусора. Отсутствие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revocation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компенсируется коротким TTL (5-15 секунд): пересланный другу QR через 15 секунд станет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невалидным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. Схема вдохновлена принципами TOTP, но адаптирована под сессионный контекст.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9547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для аудита критично свойство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неотказумости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— система должна показывать, что журнал не был модифицирован задним числом. Обычный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append-only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этого не даёт.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7470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Подход заимствован из концепции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blockchain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, но адаптирован под монолитную систему — без консенсуса, без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PoW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, только свойство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tamper-evidence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. Свойство проверяется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эндпоинтом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</a:t>
            </a:r>
            <a:r>
              <a:rPr lang="ru-RU" dirty="0"/>
              <a:t>POST /</a:t>
            </a:r>
            <a:r>
              <a:rPr lang="ru-RU" dirty="0" err="1"/>
              <a:t>audit</a:t>
            </a:r>
            <a:r>
              <a:rPr lang="ru-RU" dirty="0"/>
              <a:t>/</a:t>
            </a:r>
            <a:r>
              <a:rPr lang="ru-RU" dirty="0" err="1"/>
              <a:t>verify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, который пересчитывает цепочку и возвращает ID первой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расхождённой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записи (если есть).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1607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Подход заимствован из концепции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blockchain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, но адаптирован под монолитную систему — без консенсуса, без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PoW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, только свойство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tamper-evidence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. Свойство проверяется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эндпоинтом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 </a:t>
            </a:r>
            <a:r>
              <a:rPr lang="ru-RU" dirty="0"/>
              <a:t>POST /</a:t>
            </a:r>
            <a:r>
              <a:rPr lang="ru-RU" dirty="0" err="1"/>
              <a:t>audit</a:t>
            </a:r>
            <a:r>
              <a:rPr lang="ru-RU" dirty="0"/>
              <a:t>/</a:t>
            </a:r>
            <a:r>
              <a:rPr lang="ru-RU" dirty="0" err="1"/>
              <a:t>verify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, который пересчитывает цепочку и возвращает ID первой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расхождённой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записи (если есть).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07509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эта проблема выявилась при первичном проектировании доменной модели. Простой вариант «сессия указывает на одну группу» не покрывает реальные сценарии использования в вузе.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34261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первая идея была простой — полиморфная связь. Она известна в ORM (например, поддерживается в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Gorm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), но имеет принципиальный недостаток: база данных не может гарантировать ссылочную целостность, потому что FK не умеет указывать на две таблицы одновременно. А главное — даже если её использовать, кейс «группы из разных потоков» она всё равно не покрывает.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1678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решение — отказаться от полиморфизма и перевести связь в честное M:N. Поток переносится из уровня данных на уровень UI: когда преподаватель «выбирает поток», фронтенд просто добавляет все его группы в список выбора. На уровне БД всегда хранится плоский список групп. 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9874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Email</a:t>
            </a:r>
            <a:r>
              <a:rPr lang="ru-RU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оставлен в открытом виде осознанно — иначе сломается логин и поиск пользователей (индексация). Ключ сохраняется в </a:t>
            </a:r>
            <a:r>
              <a:rPr lang="en-US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env’</a:t>
            </a:r>
            <a:r>
              <a:rPr lang="ru-RU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ах</a:t>
            </a:r>
            <a:r>
              <a:rPr lang="en-US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ru-RU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чего достаточно для </a:t>
            </a:r>
            <a:r>
              <a:rPr lang="en-US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MWP-</a:t>
            </a:r>
            <a:r>
              <a:rPr lang="ru-RU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продукта</a:t>
            </a:r>
            <a:r>
              <a:rPr lang="en-US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ru-RU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в будущем все секреты можно вынести в </a:t>
            </a:r>
            <a:r>
              <a:rPr lang="en-US" sz="3600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hashicorp</a:t>
            </a:r>
            <a:r>
              <a:rPr lang="en-US" sz="36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vault</a:t>
            </a: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39324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8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это сводный сценарий, объединяющий все обсуждённые архитектурные решения в одно действие. Видно, как Policy Engine вызывает механизмы по очереди, как </a:t>
            </a:r>
            <a:r>
              <a:rPr lang="ru-RU" sz="4800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non-blocking</a:t>
            </a:r>
            <a:r>
              <a:rPr lang="ru-RU" sz="48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проверки собираются в единый результат, и как преподаватель получает </a:t>
            </a:r>
            <a:r>
              <a:rPr lang="ru-RU" sz="4800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live</a:t>
            </a:r>
            <a:r>
              <a:rPr lang="ru-RU" sz="48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-уведомление.</a:t>
            </a:r>
            <a:br>
              <a:rPr lang="ru-RU" sz="4800" dirty="0"/>
            </a:b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22617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8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это сводный сценарий, объединяющий все обсуждённые архитектурные решения в одно действие. Видно, как Policy Engine вызывает механизмы по очереди, как </a:t>
            </a:r>
            <a:r>
              <a:rPr lang="ru-RU" sz="4800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non-blocking</a:t>
            </a:r>
            <a:r>
              <a:rPr lang="ru-RU" sz="48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проверки собираются в единый результат, и как преподаватель получает </a:t>
            </a:r>
            <a:r>
              <a:rPr lang="ru-RU" sz="4800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live</a:t>
            </a:r>
            <a:r>
              <a:rPr lang="ru-RU" sz="48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-уведомление.</a:t>
            </a:r>
            <a:br>
              <a:rPr lang="ru-RU" sz="4800" dirty="0"/>
            </a:b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0768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86b4be1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186b4be10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8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это сводный сценарий, объединяющий все обсуждённые архитектурные решения в одно действие. Видно, как Policy Engine вызывает механизмы по очереди, как </a:t>
            </a:r>
            <a:r>
              <a:rPr lang="ru-RU" sz="4800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non-blocking</a:t>
            </a:r>
            <a:r>
              <a:rPr lang="ru-RU" sz="48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 проверки собираются в единый результат, и как преподаватель получает </a:t>
            </a:r>
            <a:r>
              <a:rPr lang="ru-RU" sz="4800" b="0" i="0" dirty="0" err="1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live</a:t>
            </a:r>
            <a:r>
              <a:rPr lang="ru-RU" sz="4800" b="0" i="0" dirty="0">
                <a:solidFill>
                  <a:srgbClr val="BCBEC4"/>
                </a:solidFill>
                <a:effectLst/>
                <a:latin typeface="Helvetica" panose="020B0604020202020204" pitchFamily="34" charset="0"/>
              </a:rPr>
              <a:t>-уведомление.</a:t>
            </a:r>
            <a:br>
              <a:rPr lang="ru-RU" sz="4800" dirty="0"/>
            </a:br>
            <a:endParaRPr sz="2200" dirty="0"/>
          </a:p>
        </p:txBody>
      </p:sp>
      <p:sp>
        <p:nvSpPr>
          <p:cNvPr id="138" name="Google Shape;138;g38186b4be10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33226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762c597a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2762c597ae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eorgia"/>
                <a:ea typeface="Georgia"/>
                <a:cs typeface="Georgia"/>
                <a:sym typeface="Georgia"/>
              </a:rPr>
              <a:t>Спасибо за внимание! Готов ответить на ваши вопросы.</a:t>
            </a:r>
            <a:endParaRPr/>
          </a:p>
        </p:txBody>
      </p:sp>
      <p:sp>
        <p:nvSpPr>
          <p:cNvPr id="163" name="Google Shape;163;g32762c597ae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Изображение выглядит как Прямоугольни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38972" y="-112712"/>
            <a:ext cx="2971799" cy="22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763973" y="595244"/>
            <a:ext cx="4785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i="0" u="none" strike="noStrike" cap="none">
                <a:solidFill>
                  <a:schemeClr val="lt1"/>
                </a:solidFill>
              </a:rPr>
              <a:t>Направление подготовки</a:t>
            </a:r>
            <a:endParaRPr sz="180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09.03.04 </a:t>
            </a:r>
            <a:r>
              <a:rPr lang="ru-RU" sz="1800" i="0">
                <a:solidFill>
                  <a:schemeClr val="lt1"/>
                </a:solidFill>
              </a:rPr>
              <a:t>— </a:t>
            </a:r>
            <a:r>
              <a:rPr lang="ru-RU" sz="1800">
                <a:solidFill>
                  <a:schemeClr val="lt1"/>
                </a:solidFill>
              </a:rPr>
              <a:t>Программная инженерия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ООП «Программная инженерия»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691475" y="2895475"/>
            <a:ext cx="10978500" cy="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ru-RU" sz="3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Разработка защищенной он жульничества системы учета посещаемости студентов</a:t>
            </a:r>
            <a:endParaRPr sz="6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691487" y="4046935"/>
            <a:ext cx="91440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Исполнитель: Михайлов Игорь Александрович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91473" y="4858925"/>
            <a:ext cx="79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 dirty="0">
                <a:solidFill>
                  <a:schemeClr val="lt1"/>
                </a:solidFill>
              </a:rPr>
              <a:t>Руководитель</a:t>
            </a:r>
            <a:r>
              <a:rPr lang="en-US" sz="1800" dirty="0">
                <a:solidFill>
                  <a:schemeClr val="lt1"/>
                </a:solidFill>
              </a:rPr>
              <a:t>: </a:t>
            </a:r>
            <a:r>
              <a:rPr lang="ru-RU" sz="1800" dirty="0">
                <a:solidFill>
                  <a:schemeClr val="lt1"/>
                </a:solidFill>
              </a:rPr>
              <a:t>В.Е. Скиба</a:t>
            </a:r>
            <a:r>
              <a:rPr lang="en-US" sz="1800" dirty="0">
                <a:solidFill>
                  <a:schemeClr val="lt1"/>
                </a:solidFill>
              </a:rPr>
              <a:t>, </a:t>
            </a:r>
            <a:r>
              <a:rPr lang="ru-RU" sz="1800" dirty="0">
                <a:solidFill>
                  <a:schemeClr val="lt1"/>
                </a:solidFill>
              </a:rPr>
              <a:t>старший преподаватель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91487" y="2173305"/>
            <a:ext cx="77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КУРСОВАЯ РАБОТА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 rot="-5400000">
            <a:off x="9412137" y="3105732"/>
            <a:ext cx="4635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</a:rPr>
              <a:t>ТОМСКИЙ ГОСУДАРСТВЕННЫЙ УНИВЕРСИТЕТ</a:t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100" name="Google Shape;100;p14"/>
          <p:cNvCxnSpPr/>
          <p:nvPr/>
        </p:nvCxnSpPr>
        <p:spPr>
          <a:xfrm>
            <a:off x="11591502" y="304800"/>
            <a:ext cx="0" cy="725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" name="Google Shape;101;p14"/>
          <p:cNvCxnSpPr/>
          <p:nvPr/>
        </p:nvCxnSpPr>
        <p:spPr>
          <a:xfrm>
            <a:off x="11591502" y="5884817"/>
            <a:ext cx="0" cy="725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1066800" y="-19527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Актуальность и проблематика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838200" y="1365301"/>
            <a:ext cx="10428000" cy="4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Текущая ситуация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: Учёт посещаемости в вузах слабо автоматизирован: бумажные списки, Excel-таблицы, разрозненные решения.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Готовые системы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OneTap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Jibble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Classter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) плохо применимы в российских вузах: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Почему готовые решения не подходят: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Высокая стоимость корпоративных лицензий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Отсутствие гибкости в настройке под конкретный вуз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Сложность интеграции в университетскую экосистему.</a:t>
            </a:r>
          </a:p>
        </p:txBody>
      </p:sp>
      <p:sp>
        <p:nvSpPr>
          <p:cNvPr id="110" name="Google Shape;110;p15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599762" y="266377"/>
            <a:ext cx="20835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050">
                <a:solidFill>
                  <a:srgbClr val="BFBFBF"/>
                </a:solidFill>
              </a:rPr>
              <a:t>Томский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050">
                <a:solidFill>
                  <a:srgbClr val="BFBFBF"/>
                </a:solidFill>
              </a:rPr>
              <a:t>Государственный </a:t>
            </a:r>
            <a:endParaRPr sz="1050">
              <a:solidFill>
                <a:srgbClr val="BFBFB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050">
                <a:solidFill>
                  <a:srgbClr val="BFBFBF"/>
                </a:solidFill>
              </a:rPr>
              <a:t>Университет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050">
                <a:solidFill>
                  <a:srgbClr val="BFBFBF"/>
                </a:solidFill>
              </a:rPr>
              <a:t>Высшая IT Школа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970492" y="-212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Цель и задачи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838200" y="1585708"/>
            <a:ext cx="10428000" cy="43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Цель: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 Разработать защищенную от жульничества систему автоматизированного учета посещаемости студентов с использованием QR-кодов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Задачи: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Проанализировать существующие решения рынка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Спроектировать архитектуру системы и модель данных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Реализовать гибко настраиваемые механизмы защиты от жульничества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Реализовать модули преподавателя, администратора и мобильный клиент студента.</a:t>
            </a:r>
          </a:p>
        </p:txBody>
      </p:sp>
      <p:sp>
        <p:nvSpPr>
          <p:cNvPr id="121" name="Google Shape;121;p16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050">
                <a:solidFill>
                  <a:srgbClr val="BFBFBF"/>
                </a:solidFill>
              </a:rPr>
              <a:t>Томский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050">
                <a:solidFill>
                  <a:srgbClr val="BFBFBF"/>
                </a:solidFill>
              </a:rPr>
              <a:t>Государственный </a:t>
            </a:r>
            <a:endParaRPr sz="1050">
              <a:solidFill>
                <a:srgbClr val="BFBFB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050">
                <a:solidFill>
                  <a:srgbClr val="BFBFBF"/>
                </a:solidFill>
              </a:rPr>
              <a:t>Университет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</a:rPr>
              <a:t>Высшая IT Школа</a:t>
            </a:r>
            <a:endParaRPr sz="1050"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970492" y="-212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Функциональные требования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body" idx="1"/>
          </p:nvPr>
        </p:nvSpPr>
        <p:spPr>
          <a:xfrm>
            <a:off x="838200" y="875350"/>
            <a:ext cx="10515600" cy="55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Студент:</a:t>
            </a:r>
            <a:endParaRPr sz="1900" b="1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Сканирование QR-кода для отметки на занятии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Просмотр статистики посещаемости по предметам и за период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Преподаватель:</a:t>
            </a:r>
          </a:p>
          <a:p>
            <a:pPr marL="342900">
              <a:lnSpc>
                <a:spcPct val="100000"/>
              </a:lnSpc>
              <a:spcBef>
                <a:spcPts val="120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Создание сессии отметки с выбором курса, групп/потоков, политики защиты.</a:t>
            </a:r>
          </a:p>
          <a:p>
            <a:pPr marL="342900">
              <a:lnSpc>
                <a:spcPct val="100000"/>
              </a:lnSpc>
              <a:spcBef>
                <a:spcPts val="120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Генерация и ротация QR-кода с настраиваемыми параметрами.</a:t>
            </a:r>
          </a:p>
          <a:p>
            <a:pPr marL="342900">
              <a:lnSpc>
                <a:spcPct val="100000"/>
              </a:lnSpc>
              <a:spcBef>
                <a:spcPts val="120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Экспорт данных в Excel/CSV.</a:t>
            </a:r>
          </a:p>
          <a:p>
            <a:pPr marL="342900">
              <a:lnSpc>
                <a:spcPct val="100000"/>
              </a:lnSpc>
              <a:spcBef>
                <a:spcPts val="1200"/>
              </a:spcBef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Live-мониторинг текущей сессии (кто отметился, кто не прошёл проверку).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Администратор:</a:t>
            </a:r>
            <a:endParaRPr sz="1900" b="1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Управление учётными записями пользователей.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Управление группами, потоками, дисциплинами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Настройка политик безопасности (TTL QR, геолокация, 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Wi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-Fi)</a:t>
            </a:r>
          </a:p>
        </p:txBody>
      </p:sp>
      <p:sp>
        <p:nvSpPr>
          <p:cNvPr id="132" name="Google Shape;132;p17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</a:rPr>
              <a:t>У</a:t>
            </a: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212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Нефункциональные требования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838200" y="1221725"/>
            <a:ext cx="10428000" cy="55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Надежность QR-кодов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QR не содержит открытых данных пользователя или занятия</a:t>
            </a:r>
            <a:endParaRPr lang="en-US" sz="19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Передаётся только 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криптографически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 защищённый токен сессии. </a:t>
            </a:r>
            <a:endParaRPr lang="en-US" sz="1900" dirty="0">
              <a:latin typeface="Arial"/>
              <a:ea typeface="Arial"/>
              <a:cs typeface="Arial"/>
              <a:sym typeface="Arial"/>
            </a:endParaRP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Аудит безопасности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Все критичные операции (создание сессии, отметка, изменение политик) записываются в журнал с указанием пользователя, времени, параметров.</a:t>
            </a:r>
            <a:endParaRPr lang="en-US" sz="19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Журнал устойчив к модификации (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tamper-evident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).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Надёжность хранения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Все данные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содержащие персональную информацию пользователя хранятся в зашифрованном или 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хэшированном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 виде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Гибкость политик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Механизмы защиты подключаемы и конфигурируемы без изменения кода ядра.</a:t>
            </a:r>
            <a:endParaRPr lang="en-US" sz="1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900" b="1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15000"/>
              </a:lnSpc>
              <a:spcBef>
                <a:spcPts val="1200"/>
              </a:spcBef>
              <a:buSzPts val="1100"/>
              <a:buNone/>
            </a:pPr>
            <a:endParaRPr lang="en-US" sz="19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</a:rPr>
              <a:t>У</a:t>
            </a: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>
            <a:spLocks noGrp="1"/>
          </p:cNvSpPr>
          <p:nvPr>
            <p:ph type="title"/>
          </p:nvPr>
        </p:nvSpPr>
        <p:spPr>
          <a:xfrm>
            <a:off x="970492" y="-212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Используемые технологии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</a:t>
            </a:r>
            <a:endParaRPr sz="1050">
              <a:solidFill>
                <a:srgbClr val="BFBFBF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университет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03463" y="1113500"/>
            <a:ext cx="4708287" cy="1938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85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</a:rPr>
              <a:t>Backend: Go + ORM Gorm</a:t>
            </a:r>
          </a:p>
          <a:p>
            <a:pPr marL="45085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</a:rPr>
              <a:t>DB: PostgreSQL</a:t>
            </a:r>
          </a:p>
          <a:p>
            <a:pPr marL="45085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</a:rPr>
              <a:t>Web: React </a:t>
            </a:r>
          </a:p>
          <a:p>
            <a:pPr marL="45085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</a:rPr>
              <a:t>Mobile: React Native + Expo, Android</a:t>
            </a:r>
          </a:p>
          <a:p>
            <a:pPr marL="45085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dk1"/>
                </a:solidFill>
              </a:rPr>
              <a:t>Криптография</a:t>
            </a:r>
            <a:r>
              <a:rPr lang="en-US" sz="1900" dirty="0">
                <a:solidFill>
                  <a:schemeClr val="dk1"/>
                </a:solidFill>
              </a:rPr>
              <a:t>: argon2id, HMAC-SHA256, AES-256-GCM, SHA-256</a:t>
            </a:r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1912" y="2597850"/>
            <a:ext cx="7580088" cy="16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7606" y="4473463"/>
            <a:ext cx="45720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325" y="3806700"/>
            <a:ext cx="1991300" cy="20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63325" y="482750"/>
            <a:ext cx="2294345" cy="211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5A5F617-8A30-4A63-A7E8-9C193F118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587" y="4766244"/>
            <a:ext cx="3062495" cy="160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212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Роли и границы системы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838200" y="1221725"/>
            <a:ext cx="10428000" cy="55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900" b="1" dirty="0" err="1">
                <a:latin typeface="Arial"/>
                <a:ea typeface="Arial"/>
                <a:cs typeface="Arial"/>
                <a:sym typeface="Arial"/>
              </a:rPr>
              <a:t>Акторы</a:t>
            </a: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 системы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Студент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мобильное приложение (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Android).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 Сканирует 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QR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и смотрит свою статистику</a:t>
            </a:r>
            <a:endParaRPr lang="en-US" sz="19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Преподаватель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: Web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-SPA. Создаёт сессии отметки, видит 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live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-мониторинг, экспортирует отчёты.</a:t>
            </a:r>
            <a:endParaRPr lang="en-US" sz="19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Администратор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отдельная 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web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-SPA. Управляет пользователями, справочниками, политиками защиты, просматривает аудит.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Границы 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MWP: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Внешних интеграций (ЭИОС, 1С, SSO) нет — осознанное ограничение объёма курсовой.</a:t>
            </a:r>
            <a:endParaRPr lang="en-US" sz="1900" b="1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15000"/>
              </a:lnSpc>
              <a:spcBef>
                <a:spcPts val="1200"/>
              </a:spcBef>
              <a:buSzPts val="1100"/>
              <a:buNone/>
            </a:pPr>
            <a:endParaRPr lang="en-US" sz="19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</a:rPr>
              <a:t>У</a:t>
            </a: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6126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212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Диаграмма компонентов системы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838200" y="1221725"/>
            <a:ext cx="10428000" cy="55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00"/>
              </a:spcBef>
              <a:buSzPts val="1100"/>
              <a:buNone/>
            </a:pPr>
            <a:endParaRPr lang="en-US" sz="19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</a:rPr>
              <a:t>У</a:t>
            </a: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65D5C8-1FB4-434A-BF6F-6BE925737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078" y="1933065"/>
            <a:ext cx="9470243" cy="353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22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212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Диаграмма классов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838200" y="1221725"/>
            <a:ext cx="10428000" cy="55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00"/>
              </a:spcBef>
              <a:buSzPts val="1100"/>
              <a:buNone/>
            </a:pPr>
            <a:endParaRPr lang="en-US" sz="19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</a:rPr>
              <a:t>У</a:t>
            </a: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A617D8-849D-4EE8-AA89-1AB26EC17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492" y="1178137"/>
            <a:ext cx="5479711" cy="563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37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212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Архитектурные решения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838200" y="1221725"/>
            <a:ext cx="10428000" cy="55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Pluggable Security Mechanisms + Policy engine: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подключаемые механизмы проверки</a:t>
            </a:r>
            <a:endParaRPr lang="ru-RU" sz="1900" b="1" dirty="0">
              <a:latin typeface="Arial"/>
              <a:ea typeface="Arial"/>
              <a:cs typeface="Arial"/>
              <a:sym typeface="Arial"/>
            </a:endParaRP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Ротирующийся 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код + 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WebSocket</a:t>
            </a: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-канал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криптосхема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stateless-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токенов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Tamper-evident audit log: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хэш-цепочка аудита безопасности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защищенная от изменений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Clean Architecture: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слоистая архитектура бэкенда</a:t>
            </a:r>
            <a:endParaRPr lang="ru-RU" sz="1900" b="1" dirty="0">
              <a:latin typeface="Arial"/>
              <a:ea typeface="Arial"/>
              <a:cs typeface="Arial"/>
              <a:sym typeface="Arial"/>
            </a:endParaRP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endParaRPr lang="ru-RU" sz="19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</a:rPr>
              <a:t>У</a:t>
            </a: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5333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212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Pluggable Security Mechanisms</a:t>
            </a:r>
            <a:endParaRPr lang="ru-RU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838200" y="1221725"/>
            <a:ext cx="10428000" cy="55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Проблема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Требуется несколько независимых механизмов защиты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: TTL QR,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геолокация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, Wi-Fi-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привязка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В будущем возможны новые (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Bluetooth-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маяк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одноразовый 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код и другие)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Добавление нового механизма не должно требовать переделки ядра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Критерий качества архитектуры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Минимальные изменения кода при добавлении новой проверки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Возможность конфигурировать включение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отключение на уровне политики</a:t>
            </a:r>
            <a:endParaRPr lang="en-US" sz="19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Отсутствие миграций БД при добавлении механизма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endParaRPr lang="ru-RU" sz="19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</a:rPr>
              <a:t>У</a:t>
            </a: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974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70263"/>
            <a:ext cx="10515600" cy="16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Pluggable Security Mechanisms: 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решение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6353910" y="1406769"/>
            <a:ext cx="4912290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Паттерн стратегия на уровне доменного слоя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Интерфейс </a:t>
            </a:r>
            <a:r>
              <a:rPr lang="en-US" sz="1900" dirty="0" err="1">
                <a:latin typeface="Arial"/>
                <a:ea typeface="Arial"/>
                <a:cs typeface="Arial"/>
                <a:sym typeface="Arial"/>
              </a:rPr>
              <a:t>SecurityCheck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единая точка расширения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Реализация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: QRTTL, </a:t>
            </a:r>
            <a:r>
              <a:rPr lang="en-US" sz="1900" dirty="0" err="1">
                <a:latin typeface="Arial"/>
                <a:ea typeface="Arial"/>
                <a:cs typeface="Arial"/>
                <a:sym typeface="Arial"/>
              </a:rPr>
              <a:t>GeoCheck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 dirty="0" err="1">
                <a:latin typeface="Arial"/>
                <a:ea typeface="Arial"/>
                <a:cs typeface="Arial"/>
                <a:sym typeface="Arial"/>
              </a:rPr>
              <a:t>WiFiCheck</a:t>
            </a:r>
            <a:endParaRPr lang="en-US" sz="19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1900" dirty="0" err="1">
                <a:latin typeface="Arial"/>
                <a:ea typeface="Arial"/>
                <a:cs typeface="Arial"/>
                <a:sym typeface="Arial"/>
              </a:rPr>
              <a:t>PolicyEngine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агрегирует механизмы и </a:t>
            </a:r>
            <a:r>
              <a:rPr lang="ru-RU" sz="1900" dirty="0" err="1">
                <a:latin typeface="Arial"/>
                <a:ea typeface="Arial"/>
                <a:cs typeface="Arial"/>
                <a:sym typeface="Arial"/>
              </a:rPr>
              <a:t>оркестрирует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 их по </a:t>
            </a:r>
            <a:r>
              <a:rPr lang="en-US" sz="1900" dirty="0" err="1">
                <a:latin typeface="Arial"/>
                <a:ea typeface="Arial"/>
                <a:cs typeface="Arial"/>
                <a:sym typeface="Arial"/>
              </a:rPr>
              <a:t>MechanismsConfig</a:t>
            </a:r>
            <a:endParaRPr lang="en-US" sz="1900" dirty="0">
              <a:latin typeface="Arial"/>
              <a:ea typeface="Arial"/>
              <a:cs typeface="Arial"/>
              <a:sym typeface="Arial"/>
            </a:endParaRP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Пример конфигурации в БД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</a:t>
            </a:r>
            <a:endParaRPr lang="ru-RU" sz="19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</a:rPr>
              <a:t>У</a:t>
            </a: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A76815-1F4C-4180-B0DD-0268A95B3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9" y="1406769"/>
            <a:ext cx="5528483" cy="472502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277BE2-FD83-4E75-AB67-091CA2580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651" y="5207115"/>
            <a:ext cx="5419761" cy="98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04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105508"/>
            <a:ext cx="9087908" cy="1230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Неблокирующая политика отметок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8034290" y="1406769"/>
            <a:ext cx="3773011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Принцип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 </a:t>
            </a:r>
            <a:endParaRPr lang="ru-RU" sz="1900" b="1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Механизмы защиты не блокируют отметку. 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Каждая проверка возвращает 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passed | failed | skipped.</a:t>
            </a:r>
            <a:endParaRPr lang="ru-RU" sz="19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Если среди результатов есть 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failed — </a:t>
            </a: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отметка получает </a:t>
            </a:r>
            <a:r>
              <a:rPr lang="en-US" sz="1900" dirty="0" err="1">
                <a:latin typeface="Arial"/>
                <a:ea typeface="Arial"/>
                <a:cs typeface="Arial"/>
                <a:sym typeface="Arial"/>
              </a:rPr>
              <a:t>preliminary_status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900" dirty="0" err="1">
                <a:latin typeface="Arial"/>
                <a:ea typeface="Arial"/>
                <a:cs typeface="Arial"/>
                <a:sym typeface="Arial"/>
              </a:rPr>
              <a:t>needs_review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,</a:t>
            </a:r>
            <a:endParaRPr lang="ru-RU" sz="19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1900" dirty="0">
                <a:latin typeface="Arial"/>
                <a:ea typeface="Arial"/>
                <a:cs typeface="Arial"/>
                <a:sym typeface="Arial"/>
              </a:rPr>
              <a:t>Преподаватель видит индикатор и может вручную установить </a:t>
            </a:r>
            <a:r>
              <a:rPr lang="en-US" sz="1900" dirty="0" err="1">
                <a:latin typeface="Arial"/>
                <a:ea typeface="Arial"/>
                <a:cs typeface="Arial"/>
                <a:sym typeface="Arial"/>
              </a:rPr>
              <a:t>final_status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.</a:t>
            </a:r>
            <a:endParaRPr lang="ru-RU" sz="1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581511-DFA3-4577-B986-0C4246752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63" y="1469053"/>
            <a:ext cx="3559221" cy="462082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8F6960-A29A-482E-87CA-D04EB03B8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090" y="2149731"/>
            <a:ext cx="4620173" cy="361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70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105508"/>
            <a:ext cx="9087908" cy="1230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Ротация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QR: 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возможные решения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8034290" y="1406769"/>
            <a:ext cx="3773011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endParaRPr lang="ru-RU" sz="1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5C09E6-8456-4E7A-BC92-16FE0C660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492" y="1406769"/>
            <a:ext cx="9521386" cy="399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038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1" y="-105508"/>
            <a:ext cx="9088195" cy="1230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000" dirty="0">
                <a:latin typeface="Arial"/>
                <a:ea typeface="Arial"/>
                <a:cs typeface="Arial"/>
                <a:sym typeface="Arial"/>
              </a:rPr>
              <a:t>Ротация </a:t>
            </a: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QR: </a:t>
            </a:r>
            <a:r>
              <a:rPr lang="ru-RU" sz="4000" dirty="0">
                <a:latin typeface="Arial"/>
                <a:ea typeface="Arial"/>
                <a:cs typeface="Arial"/>
                <a:sym typeface="Arial"/>
              </a:rPr>
              <a:t>выбранное решение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6418385" y="1406769"/>
            <a:ext cx="5388916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1900" b="1" dirty="0">
                <a:latin typeface="Arial"/>
                <a:ea typeface="Arial"/>
                <a:cs typeface="Arial"/>
                <a:sym typeface="Arial"/>
              </a:rPr>
              <a:t>Описание</a:t>
            </a: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QR = {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session_id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, counter,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hmac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qr_secret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session_id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‖ counter)}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Сервер хранит только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qr_secret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(32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байта) и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current_counter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в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sessions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Каждые N секунд сервер инкрементирует </a:t>
            </a:r>
            <a:r>
              <a:rPr lang="ru-RU" sz="2000" dirty="0" err="1">
                <a:latin typeface="Arial"/>
                <a:ea typeface="Arial"/>
                <a:cs typeface="Arial"/>
                <a:sym typeface="Arial"/>
              </a:rPr>
              <a:t>counter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, отправляет новый токен на экран преподавателя через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WebSocket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Студент сканирует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QR →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бэкенд </a:t>
            </a:r>
            <a:r>
              <a:rPr lang="ru-RU" sz="2000" dirty="0" err="1">
                <a:latin typeface="Arial"/>
                <a:ea typeface="Arial"/>
                <a:cs typeface="Arial"/>
                <a:sym typeface="Arial"/>
              </a:rPr>
              <a:t>валидирует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HMAC +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проверяет, что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counter ∈ [current-slack, current]</a:t>
            </a: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6F10AF8-03F4-4BA3-8943-D2A6E21BB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150" y="874870"/>
            <a:ext cx="4823461" cy="58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9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266377"/>
            <a:ext cx="9088195" cy="955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Tamper-evident audit log:</a:t>
            </a:r>
            <a:r>
              <a:rPr lang="ru-RU" sz="4000" dirty="0">
                <a:latin typeface="Arial"/>
                <a:ea typeface="Arial"/>
                <a:cs typeface="Arial"/>
                <a:sym typeface="Arial"/>
              </a:rPr>
              <a:t> возможные решения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703385" y="1406769"/>
            <a:ext cx="11103916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Вариант 1 – обычный 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append-only log: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Таблица с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INSERT only</a:t>
            </a:r>
            <a:endParaRPr lang="ru-RU" sz="20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Плюс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простота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Минус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любой с доступом к БД может скомпрометировать запись незаметно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Вариант 2 – 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hash-chain: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Каждая запись содержит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prev_hash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record_hash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record_hash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= SHA256(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prev_hash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||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canonical_payload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Изменение записи в середине ломает цепочку при верификации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endParaRPr lang="en-US"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1700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266377"/>
            <a:ext cx="9088195" cy="955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Tamper-evident audit log:</a:t>
            </a:r>
            <a:r>
              <a:rPr lang="ru-RU" sz="4000" dirty="0">
                <a:latin typeface="Arial"/>
                <a:ea typeface="Arial"/>
                <a:cs typeface="Arial"/>
                <a:sym typeface="Arial"/>
              </a:rPr>
              <a:t> выбранное </a:t>
            </a:r>
            <a:br>
              <a:rPr lang="ru-RU" sz="4000" dirty="0">
                <a:latin typeface="Arial"/>
                <a:ea typeface="Arial"/>
                <a:cs typeface="Arial"/>
                <a:sym typeface="Arial"/>
              </a:rPr>
            </a:br>
            <a:r>
              <a:rPr lang="ru-RU" sz="4000" dirty="0">
                <a:latin typeface="Arial"/>
                <a:ea typeface="Arial"/>
                <a:cs typeface="Arial"/>
                <a:sym typeface="Arial"/>
              </a:rPr>
              <a:t>решение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703385" y="1406769"/>
            <a:ext cx="11103916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Hash chain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на уровне таблицы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audit_log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prev_hash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первой записи – 32 нулевых байта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canonical_payload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детерминированная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JSON – </a:t>
            </a:r>
            <a:r>
              <a:rPr lang="ru-RU" sz="2000" dirty="0" err="1">
                <a:latin typeface="Arial"/>
                <a:ea typeface="Arial"/>
                <a:cs typeface="Arial"/>
                <a:sym typeface="Arial"/>
              </a:rPr>
              <a:t>сериализация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 (отсортированные ключи)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 err="1">
                <a:latin typeface="Arial"/>
                <a:ea typeface="Arial"/>
                <a:cs typeface="Arial"/>
                <a:sym typeface="Arial"/>
              </a:rPr>
              <a:t>Эндпоинт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POST /audit/verify –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полная пересчётная верификация цепочки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Атомарность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вставка в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audit_log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часть той же транзакции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что и основная операция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8364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266377"/>
            <a:ext cx="9088195" cy="955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Tamper-evident audit log:</a:t>
            </a:r>
            <a:r>
              <a:rPr lang="ru-RU" sz="4000" dirty="0">
                <a:latin typeface="Arial"/>
                <a:ea typeface="Arial"/>
                <a:cs typeface="Arial"/>
                <a:sym typeface="Arial"/>
              </a:rPr>
              <a:t> выбранное </a:t>
            </a:r>
            <a:br>
              <a:rPr lang="ru-RU" sz="4000" dirty="0">
                <a:latin typeface="Arial"/>
                <a:ea typeface="Arial"/>
                <a:cs typeface="Arial"/>
                <a:sym typeface="Arial"/>
              </a:rPr>
            </a:br>
            <a:r>
              <a:rPr lang="ru-RU" sz="4000" dirty="0">
                <a:latin typeface="Arial"/>
                <a:ea typeface="Arial"/>
                <a:cs typeface="Arial"/>
                <a:sym typeface="Arial"/>
              </a:rPr>
              <a:t>решение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703385" y="1406769"/>
            <a:ext cx="11103916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Hash chain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на уровне таблицы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audit_log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prev_hash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первой записи – 32 нулевых байта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canonical_payload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детерминированная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JSON – </a:t>
            </a:r>
            <a:r>
              <a:rPr lang="ru-RU" sz="2000" dirty="0" err="1">
                <a:latin typeface="Arial"/>
                <a:ea typeface="Arial"/>
                <a:cs typeface="Arial"/>
                <a:sym typeface="Arial"/>
              </a:rPr>
              <a:t>сериализация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 (отсортированные ключи)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 err="1">
                <a:latin typeface="Arial"/>
                <a:ea typeface="Arial"/>
                <a:cs typeface="Arial"/>
                <a:sym typeface="Arial"/>
              </a:rPr>
              <a:t>Эндпоинт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POST /audit/verify –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полная пересчётная верификация цепочки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Атомарность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вставка в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audit_log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часть той же транзакции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что и основная операция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8993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197635"/>
            <a:ext cx="8956023" cy="14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3600" dirty="0">
                <a:latin typeface="Arial"/>
                <a:ea typeface="Arial"/>
                <a:cs typeface="Arial"/>
                <a:sym typeface="Arial"/>
              </a:rPr>
              <a:t>Проблема первичного проектирования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703385" y="1406769"/>
            <a:ext cx="11103916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Задача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на какие объекты может быть направлена сессия отметки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?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Бизнес-требование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Одна конкретная группа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Несколько групп из одного потока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Целый поток (все группы)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Несколько потоков (мастер-лекция)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Группы из разных потоков(смешанные семинары)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Проблема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как смоделировать эту связь в реляционной БД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8493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197635"/>
            <a:ext cx="8956023" cy="14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3600" dirty="0">
                <a:latin typeface="Arial"/>
                <a:ea typeface="Arial"/>
                <a:cs typeface="Arial"/>
                <a:sym typeface="Arial"/>
              </a:rPr>
              <a:t>Первая попытка</a:t>
            </a:r>
            <a:r>
              <a:rPr lang="en-US" sz="3600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3600" dirty="0">
                <a:latin typeface="Arial"/>
                <a:ea typeface="Arial"/>
                <a:cs typeface="Arial"/>
                <a:sym typeface="Arial"/>
              </a:rPr>
              <a:t>полиморфная связь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703385" y="1406769"/>
            <a:ext cx="11103916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Идея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использовать дискриминатор типа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1072FC-3171-4125-8EED-4856F12B5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63" y="1998323"/>
            <a:ext cx="5382376" cy="6858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E33958-550A-4097-947D-1873EB1C074C}"/>
              </a:ext>
            </a:extLst>
          </p:cNvPr>
          <p:cNvSpPr txBox="1"/>
          <p:nvPr/>
        </p:nvSpPr>
        <p:spPr>
          <a:xfrm>
            <a:off x="903463" y="3204578"/>
            <a:ext cx="861201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00" b="1" dirty="0"/>
              <a:t>Проблемы</a:t>
            </a:r>
            <a:r>
              <a:rPr lang="en-US" sz="19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900" dirty="0"/>
              <a:t>СУБД не гарантирует целостность</a:t>
            </a:r>
            <a:r>
              <a:rPr lang="en-US" sz="1900" dirty="0"/>
              <a:t>: FK-constraint </a:t>
            </a:r>
            <a:r>
              <a:rPr lang="ru-RU" sz="1900" dirty="0"/>
              <a:t>на </a:t>
            </a:r>
            <a:r>
              <a:rPr lang="en-US" sz="1900" dirty="0" err="1"/>
              <a:t>target_id</a:t>
            </a:r>
            <a:r>
              <a:rPr lang="en-US" sz="1900" dirty="0"/>
              <a:t> </a:t>
            </a:r>
            <a:r>
              <a:rPr lang="ru-RU" sz="1900" dirty="0"/>
              <a:t>не поставить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900" dirty="0"/>
              <a:t>Не покрывает кейс </a:t>
            </a:r>
            <a:r>
              <a:rPr lang="en-US" sz="1900" dirty="0"/>
              <a:t>“</a:t>
            </a:r>
            <a:r>
              <a:rPr lang="ru-RU" sz="1900" dirty="0"/>
              <a:t>несколько групп</a:t>
            </a:r>
            <a:r>
              <a:rPr lang="en-US" sz="1900" dirty="0"/>
              <a:t>” </a:t>
            </a:r>
            <a:r>
              <a:rPr lang="ru-RU" sz="1900" dirty="0"/>
              <a:t>и </a:t>
            </a:r>
            <a:r>
              <a:rPr lang="en-US" sz="1900" dirty="0"/>
              <a:t>“</a:t>
            </a:r>
            <a:r>
              <a:rPr lang="ru-RU" sz="1900" dirty="0"/>
              <a:t>группы из разных потоков</a:t>
            </a:r>
            <a:r>
              <a:rPr lang="en-US" sz="1900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900" dirty="0"/>
              <a:t>Сложная фильтрация в отчётах(</a:t>
            </a:r>
            <a:r>
              <a:rPr lang="en-US" sz="1900" dirty="0"/>
              <a:t>“</a:t>
            </a:r>
            <a:r>
              <a:rPr lang="ru-RU" sz="1900" dirty="0"/>
              <a:t>все сессии группы</a:t>
            </a:r>
            <a:r>
              <a:rPr lang="en-US" sz="1900" dirty="0"/>
              <a:t>” </a:t>
            </a:r>
            <a:r>
              <a:rPr lang="ru-RU" sz="1900" dirty="0"/>
              <a:t>требует </a:t>
            </a:r>
            <a:r>
              <a:rPr lang="en-US" sz="1900" dirty="0"/>
              <a:t>UNION </a:t>
            </a:r>
            <a:r>
              <a:rPr lang="ru-RU" sz="1900" dirty="0"/>
              <a:t>по двум типам)</a:t>
            </a:r>
          </a:p>
        </p:txBody>
      </p:sp>
    </p:spTree>
    <p:extLst>
      <p:ext uri="{BB962C8B-B14F-4D97-AF65-F5344CB8AC3E}">
        <p14:creationId xmlns:p14="http://schemas.microsoft.com/office/powerpoint/2010/main" val="631609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197635"/>
            <a:ext cx="8956023" cy="14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3600" dirty="0">
                <a:latin typeface="Arial"/>
                <a:ea typeface="Arial"/>
                <a:cs typeface="Arial"/>
                <a:sym typeface="Arial"/>
              </a:rPr>
              <a:t>Решение</a:t>
            </a:r>
            <a:r>
              <a:rPr lang="en-US" sz="3600" dirty="0">
                <a:latin typeface="Arial"/>
                <a:ea typeface="Arial"/>
                <a:cs typeface="Arial"/>
                <a:sym typeface="Arial"/>
              </a:rPr>
              <a:t>: M:N </a:t>
            </a:r>
            <a:r>
              <a:rPr lang="ru-RU" sz="3600" dirty="0">
                <a:latin typeface="Arial"/>
                <a:ea typeface="Arial"/>
                <a:cs typeface="Arial"/>
                <a:sym typeface="Arial"/>
              </a:rPr>
              <a:t>через </a:t>
            </a:r>
            <a:r>
              <a:rPr lang="en-US" sz="3600" dirty="0" err="1">
                <a:latin typeface="Arial"/>
                <a:ea typeface="Arial"/>
                <a:cs typeface="Arial"/>
                <a:sym typeface="Arial"/>
              </a:rPr>
              <a:t>session_groups</a:t>
            </a:r>
            <a:endParaRPr lang="ru-RU" sz="3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703385" y="1406769"/>
            <a:ext cx="11103916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Идея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поток – это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UI-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особенность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а не сущность уровня данных сессии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endParaRPr lang="ru-RU" sz="2000" dirty="0">
              <a:latin typeface="Arial"/>
              <a:ea typeface="Arial"/>
              <a:cs typeface="Arial"/>
              <a:sym typeface="Arial"/>
            </a:endParaRP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Выбор потока в 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UI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добавляет все его группы в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session_groups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Инвариант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который должен контролироваться в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application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слое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все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group_id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в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session_groups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должны принадлежать потокам курса сессии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Преимущества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Ссылочная целостность через обычные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FK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Любая комбинация групп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потоков покрывается одной моделью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Отчёты – одна таблица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простые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JOIN’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ы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endParaRPr lang="en-US"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367474-AA6A-4D9C-82EF-461A395A2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63" y="1998323"/>
            <a:ext cx="4458322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38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197635"/>
            <a:ext cx="8956023" cy="14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3600" dirty="0">
                <a:latin typeface="Arial"/>
                <a:ea typeface="Arial"/>
                <a:cs typeface="Arial"/>
                <a:sym typeface="Arial"/>
              </a:rPr>
              <a:t>Защита персональных данных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703385" y="1406769"/>
            <a:ext cx="11103916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Пароли – хэширование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Алгоритм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argon2id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Соль уникальная для каждого пользователя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ФИО – симметричное шифрование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</a:t>
            </a:r>
            <a:endParaRPr lang="ru-RU" sz="2000" b="1" dirty="0">
              <a:latin typeface="Arial"/>
              <a:ea typeface="Arial"/>
              <a:cs typeface="Arial"/>
              <a:sym typeface="Arial"/>
            </a:endParaRP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Алгоритм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AES-256-GCM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Ключ – в переменных окружения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Nonce – 12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байт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уникальная на каждую запись</a:t>
            </a:r>
          </a:p>
          <a:p>
            <a:pPr marL="107950" indent="0">
              <a:lnSpc>
                <a:spcPct val="100000"/>
              </a:lnSpc>
              <a:spcBef>
                <a:spcPts val="1200"/>
              </a:spcBef>
              <a:buSzPts val="1900"/>
              <a:buNone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Email</a:t>
            </a:r>
            <a:r>
              <a:rPr lang="ru-RU" sz="2000" b="1" dirty="0">
                <a:latin typeface="Arial"/>
                <a:ea typeface="Arial"/>
                <a:cs typeface="Arial"/>
                <a:sym typeface="Arial"/>
              </a:rPr>
              <a:t> – в открытом виде</a:t>
            </a: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3568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197635"/>
            <a:ext cx="8956023" cy="14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3600" dirty="0">
                <a:latin typeface="Arial"/>
                <a:ea typeface="Arial"/>
                <a:cs typeface="Arial"/>
                <a:sym typeface="Arial"/>
              </a:rPr>
              <a:t>Сценарий отметки студента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7693269" y="1406769"/>
            <a:ext cx="4114032" cy="536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Студент сканирует QR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Отправляет на бэкенд токен + геолокацию + </a:t>
            </a:r>
            <a:r>
              <a:rPr lang="ru-RU" sz="2000" dirty="0" err="1">
                <a:latin typeface="Arial"/>
                <a:ea typeface="Arial"/>
                <a:cs typeface="Arial"/>
                <a:sym typeface="Arial"/>
              </a:rPr>
              <a:t>Wi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-Fi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Policy Engine прогоняет все активные проверки 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Результат каждой записывается</a:t>
            </a:r>
          </a:p>
          <a:p>
            <a:pPr marL="450850">
              <a:lnSpc>
                <a:spcPct val="100000"/>
              </a:lnSpc>
              <a:spcBef>
                <a:spcPts val="1200"/>
              </a:spcBef>
              <a:buSzPts val="1900"/>
            </a:pP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Преподавателю через </a:t>
            </a:r>
            <a:r>
              <a:rPr lang="ru-RU" sz="2000" dirty="0" err="1">
                <a:latin typeface="Arial"/>
                <a:ea typeface="Arial"/>
                <a:cs typeface="Arial"/>
                <a:sym typeface="Arial"/>
              </a:rPr>
              <a:t>WebSocket</a:t>
            </a:r>
            <a:r>
              <a:rPr lang="ru-RU" sz="2000" dirty="0">
                <a:latin typeface="Arial"/>
                <a:ea typeface="Arial"/>
                <a:cs typeface="Arial"/>
                <a:sym typeface="Arial"/>
              </a:rPr>
              <a:t> приходит событие отметки.</a:t>
            </a: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AD837D-92F1-41A5-8E51-E945846A2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04" y="936266"/>
            <a:ext cx="6845952" cy="573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54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197635"/>
            <a:ext cx="8956023" cy="14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3600" dirty="0">
                <a:latin typeface="Arial"/>
                <a:ea typeface="Arial"/>
                <a:cs typeface="Arial"/>
                <a:sym typeface="Arial"/>
              </a:rPr>
              <a:t>Сценарий отметки студента</a:t>
            </a: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822515-FA54-4D68-8AE1-022E58B1E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B9EE8F0-6D67-4D6D-853C-8DA8351BC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5277"/>
            <a:ext cx="12192000" cy="585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39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970492" y="-197635"/>
            <a:ext cx="8956023" cy="14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3600" dirty="0">
                <a:latin typeface="Arial"/>
                <a:ea typeface="Arial"/>
                <a:cs typeface="Arial"/>
                <a:sym typeface="Arial"/>
              </a:rPr>
              <a:t>Сценарий отметки студента</a:t>
            </a:r>
          </a:p>
        </p:txBody>
      </p:sp>
      <p:sp>
        <p:nvSpPr>
          <p:cNvPr id="143" name="Google Shape;143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</a:rPr>
              <a:t>У</a:t>
            </a: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ниверситет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822515-FA54-4D68-8AE1-022E58B1E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EEAF79-CDA0-4694-97C6-5A8C3B734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58730"/>
            <a:ext cx="12192000" cy="472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48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>
            <a:spLocks noGrp="1"/>
          </p:cNvSpPr>
          <p:nvPr>
            <p:ph type="title"/>
          </p:nvPr>
        </p:nvSpPr>
        <p:spPr>
          <a:xfrm>
            <a:off x="838200" y="298209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9532" y="-19763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10599762" y="266377"/>
            <a:ext cx="208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Томский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Государственный </a:t>
            </a:r>
            <a:endParaRPr sz="105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университет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Высшая IT Школа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2516</Words>
  <Application>Microsoft Office PowerPoint</Application>
  <PresentationFormat>Широкоэкранный</PresentationFormat>
  <Paragraphs>346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Georgia</vt:lpstr>
      <vt:lpstr>Helvetica</vt:lpstr>
      <vt:lpstr>Тема Office</vt:lpstr>
      <vt:lpstr>Разработка защищенной он жульничества системы учета посещаемости студентов</vt:lpstr>
      <vt:lpstr>Актуальность и проблематика</vt:lpstr>
      <vt:lpstr>Цель и задачи</vt:lpstr>
      <vt:lpstr>Функциональные требования</vt:lpstr>
      <vt:lpstr>Нефункциональные требования</vt:lpstr>
      <vt:lpstr>Используемые технологии</vt:lpstr>
      <vt:lpstr>Роли и границы системы</vt:lpstr>
      <vt:lpstr>Диаграмма компонентов системы</vt:lpstr>
      <vt:lpstr>Диаграмма классов</vt:lpstr>
      <vt:lpstr>Архитектурные решения</vt:lpstr>
      <vt:lpstr>Pluggable Security Mechanisms</vt:lpstr>
      <vt:lpstr>Pluggable Security Mechanisms: решение</vt:lpstr>
      <vt:lpstr>Неблокирующая политика отметок</vt:lpstr>
      <vt:lpstr>Ротация QR: возможные решения</vt:lpstr>
      <vt:lpstr>Ротация QR: выбранное решение</vt:lpstr>
      <vt:lpstr>Tamper-evident audit log: возможные решения</vt:lpstr>
      <vt:lpstr>Tamper-evident audit log: выбранное  решение</vt:lpstr>
      <vt:lpstr>Tamper-evident audit log: выбранное  решение</vt:lpstr>
      <vt:lpstr>Проблема первичного проектирования</vt:lpstr>
      <vt:lpstr>Первая попытка: полиморфная связь</vt:lpstr>
      <vt:lpstr>Решение: M:N через session_groups</vt:lpstr>
      <vt:lpstr>Защита персональных данных</vt:lpstr>
      <vt:lpstr>Сценарий отметки студента</vt:lpstr>
      <vt:lpstr>Сценарий отметки студента</vt:lpstr>
      <vt:lpstr>Сценарий отметки студента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защищенной он жульничества системы учета посещаемости студентов</dc:title>
  <dc:creator>Игорек Жмышенко</dc:creator>
  <cp:lastModifiedBy>Игорек Жмышенко</cp:lastModifiedBy>
  <cp:revision>3</cp:revision>
  <dcterms:modified xsi:type="dcterms:W3CDTF">2026-04-19T19:21:09Z</dcterms:modified>
</cp:coreProperties>
</file>